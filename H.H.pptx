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"/>
  </p:notesMasterIdLst>
  <p:sldIdLst>
    <p:sldId id="256" r:id="rId2"/>
    <p:sldId id="261" r:id="rId3"/>
    <p:sldId id="257" r:id="rId4"/>
    <p:sldId id="264" r:id="rId5"/>
    <p:sldId id="258" r:id="rId6"/>
    <p:sldId id="260" r:id="rId7"/>
    <p:sldId id="263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20"/>
    <p:restoredTop sz="94679"/>
  </p:normalViewPr>
  <p:slideViewPr>
    <p:cSldViewPr snapToGrid="0" snapToObjects="1">
      <p:cViewPr varScale="1">
        <p:scale>
          <a:sx n="104" d="100"/>
          <a:sy n="104" d="100"/>
        </p:scale>
        <p:origin x="70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6D9391-8EEF-F344-B559-EBA44D57364B}" type="datetimeFigureOut">
              <a:rPr lang="en-US" smtClean="0"/>
              <a:t>1/17/22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2808A1-7FB0-8F49-B170-232F56A12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202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2808A1-7FB0-8F49-B170-232F56A1219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2578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2808A1-7FB0-8F49-B170-232F56A1219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957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2808A1-7FB0-8F49-B170-232F56A1219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653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5E72A812-CD60-B443-A512-1F747440748B}" type="datetimeFigureOut">
              <a:rPr lang="en-US" smtClean="0"/>
              <a:t>1/17/22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53495C44-1B5A-8249-A74B-F02E3F79C53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434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2A812-CD60-B443-A512-1F747440748B}" type="datetimeFigureOut">
              <a:rPr lang="en-US" smtClean="0"/>
              <a:t>1/17/22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95C44-1B5A-8249-A74B-F02E3F79C5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896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2A812-CD60-B443-A512-1F747440748B}" type="datetimeFigureOut">
              <a:rPr lang="en-US" smtClean="0"/>
              <a:t>1/17/22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95C44-1B5A-8249-A74B-F02E3F79C53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0310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2A812-CD60-B443-A512-1F747440748B}" type="datetimeFigureOut">
              <a:rPr lang="en-US" smtClean="0"/>
              <a:t>1/17/22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95C44-1B5A-8249-A74B-F02E3F79C5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606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2A812-CD60-B443-A512-1F747440748B}" type="datetimeFigureOut">
              <a:rPr lang="en-US" smtClean="0"/>
              <a:t>1/17/22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95C44-1B5A-8249-A74B-F02E3F79C53F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5695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2A812-CD60-B443-A512-1F747440748B}" type="datetimeFigureOut">
              <a:rPr lang="en-US" smtClean="0"/>
              <a:t>1/17/22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95C44-1B5A-8249-A74B-F02E3F79C53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5707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2A812-CD60-B443-A512-1F747440748B}" type="datetimeFigureOut">
              <a:rPr lang="en-US" smtClean="0"/>
              <a:t>1/17/22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95C44-1B5A-8249-A74B-F02E3F79C5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316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2A812-CD60-B443-A512-1F747440748B}" type="datetimeFigureOut">
              <a:rPr lang="en-US" smtClean="0"/>
              <a:t>1/17/22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95C44-1B5A-8249-A74B-F02E3F79C53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4216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2A812-CD60-B443-A512-1F747440748B}" type="datetimeFigureOut">
              <a:rPr lang="en-US" smtClean="0"/>
              <a:t>1/17/22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95C44-1B5A-8249-A74B-F02E3F79C5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901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2A812-CD60-B443-A512-1F747440748B}" type="datetimeFigureOut">
              <a:rPr lang="en-US" smtClean="0"/>
              <a:t>1/17/22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95C44-1B5A-8249-A74B-F02E3F79C5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505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2A812-CD60-B443-A512-1F747440748B}" type="datetimeFigureOut">
              <a:rPr lang="en-US" smtClean="0"/>
              <a:t>1/17/22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95C44-1B5A-8249-A74B-F02E3F79C53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76228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2A812-CD60-B443-A512-1F747440748B}" type="datetimeFigureOut">
              <a:rPr lang="en-US" smtClean="0"/>
              <a:t>1/17/22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95C44-1B5A-8249-A74B-F02E3F79C53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3957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2A812-CD60-B443-A512-1F747440748B}" type="datetimeFigureOut">
              <a:rPr lang="en-US" smtClean="0"/>
              <a:t>1/17/22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95C44-1B5A-8249-A74B-F02E3F79C5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5299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2A812-CD60-B443-A512-1F747440748B}" type="datetimeFigureOut">
              <a:rPr lang="en-US" smtClean="0"/>
              <a:t>1/17/22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95C44-1B5A-8249-A74B-F02E3F79C53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01912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2A812-CD60-B443-A512-1F747440748B}" type="datetimeFigureOut">
              <a:rPr lang="en-US" smtClean="0"/>
              <a:t>1/17/22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95C44-1B5A-8249-A74B-F02E3F79C53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22403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2A812-CD60-B443-A512-1F747440748B}" type="datetimeFigureOut">
              <a:rPr lang="en-US" smtClean="0"/>
              <a:t>1/17/22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95C44-1B5A-8249-A74B-F02E3F79C53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48186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2A812-CD60-B443-A512-1F747440748B}" type="datetimeFigureOut">
              <a:rPr lang="en-US" smtClean="0"/>
              <a:t>1/17/22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95C44-1B5A-8249-A74B-F02E3F79C53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9266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E72A812-CD60-B443-A512-1F747440748B}" type="datetimeFigureOut">
              <a:rPr lang="en-US" smtClean="0"/>
              <a:t>1/17/22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3495C44-1B5A-8249-A74B-F02E3F79C5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678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369C3-F08F-0F48-A1A5-C7226A6E3E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500" dirty="0">
                <a:latin typeface="Consolas" panose="020B0609020204030204" pitchFamily="49" charset="0"/>
                <a:cs typeface="Consolas" panose="020B0609020204030204" pitchFamily="49" charset="0"/>
              </a:rPr>
              <a:t>Healthy Heart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63CFC9D-67E8-F443-BDCA-69FBDCF9848E}"/>
              </a:ext>
            </a:extLst>
          </p:cNvPr>
          <p:cNvSpPr txBox="1">
            <a:spLocks/>
          </p:cNvSpPr>
          <p:nvPr/>
        </p:nvSpPr>
        <p:spPr>
          <a:xfrm>
            <a:off x="2682819" y="3585819"/>
            <a:ext cx="6815669" cy="1515533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5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5880B4-169E-1341-B098-7899374D2320}"/>
              </a:ext>
            </a:extLst>
          </p:cNvPr>
          <p:cNvSpPr txBox="1"/>
          <p:nvPr/>
        </p:nvSpPr>
        <p:spPr>
          <a:xfrm>
            <a:off x="2834640" y="3585819"/>
            <a:ext cx="2973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By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Ponni Rajasree.</a:t>
            </a:r>
          </a:p>
        </p:txBody>
      </p:sp>
    </p:spTree>
    <p:extLst>
      <p:ext uri="{BB962C8B-B14F-4D97-AF65-F5344CB8AC3E}">
        <p14:creationId xmlns:p14="http://schemas.microsoft.com/office/powerpoint/2010/main" val="362454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3E98B-D28F-984F-9F99-F868521B0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B26A5E-3A78-004E-B504-A88A764B3D72}"/>
              </a:ext>
            </a:extLst>
          </p:cNvPr>
          <p:cNvSpPr txBox="1"/>
          <p:nvPr/>
        </p:nvSpPr>
        <p:spPr>
          <a:xfrm>
            <a:off x="1430767" y="2560320"/>
            <a:ext cx="966036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The heart is an organ that pumps blood throughout the body. We keep it in healthy and safely.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The main aim is we must prevent or control the heart diseases.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Based on the dataset the target vector is prediction the class, so heart disease is the target.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The data set having 918 rows and 10 columns.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 heart disease ‘0’ means no heart problem. ‘1’ means having heart problem.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These slides to determine the factors we need to investigate and how we can be able to reduce or recover the disease.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Data is visualized in simpler and easy way to understand.</a:t>
            </a:r>
          </a:p>
        </p:txBody>
      </p:sp>
    </p:spTree>
    <p:extLst>
      <p:ext uri="{BB962C8B-B14F-4D97-AF65-F5344CB8AC3E}">
        <p14:creationId xmlns:p14="http://schemas.microsoft.com/office/powerpoint/2010/main" val="4136330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333F0879-3DA0-4CB8-B35E-A0AD42558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24D2183-F388-476E-92A9-D6639D69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138" y="496090"/>
            <a:ext cx="3823215" cy="5883295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43462E7-1698-4B21-BE89-AEFAC7C2F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2"/>
            <a:ext cx="3552006" cy="5638800"/>
          </a:xfrm>
          <a:prstGeom prst="rect">
            <a:avLst/>
          </a:prstGeom>
          <a:noFill/>
          <a:ln w="15875" cap="flat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936D6-2F9D-3E48-AEA9-D0D2BA53B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140" y="972766"/>
            <a:ext cx="2835464" cy="125486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marL="285750" indent="-285750">
              <a:lnSpc>
                <a:spcPct val="90000"/>
              </a:lnSpc>
            </a:pPr>
            <a:r>
              <a:rPr lang="en-US" sz="2200" dirty="0">
                <a:solidFill>
                  <a:srgbClr val="262626"/>
                </a:solidFill>
              </a:rPr>
              <a:t>Based on this boxplot people who are having heart disease they are also having BP.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1965744-7721-1042-BFBB-72E4CA130EDD}"/>
              </a:ext>
            </a:extLst>
          </p:cNvPr>
          <p:cNvSpPr txBox="1">
            <a:spLocks/>
          </p:cNvSpPr>
          <p:nvPr/>
        </p:nvSpPr>
        <p:spPr>
          <a:xfrm>
            <a:off x="929141" y="2430471"/>
            <a:ext cx="2835464" cy="35520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</a:pPr>
            <a:endParaRPr lang="en-US" sz="1800" dirty="0">
              <a:solidFill>
                <a:srgbClr val="262626"/>
              </a:solidFill>
              <a:latin typeface="+mn-lt"/>
              <a:ea typeface="+mn-ea"/>
              <a:cs typeface="+mn-cs"/>
            </a:endParaRPr>
          </a:p>
        </p:txBody>
      </p:sp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6C22FCAC-D7EC-4A52-B153-FF761E223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491" y="0"/>
            <a:ext cx="7396509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Chart, box and whisker chart&#10;&#10;Description automatically generated">
            <a:extLst>
              <a:ext uri="{FF2B5EF4-FFF2-40B4-BE49-F238E27FC236}">
                <a16:creationId xmlns:a16="http://schemas.microsoft.com/office/drawing/2014/main" id="{60634BAF-22AD-4A4E-9948-E0D292E519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483675" y="609603"/>
            <a:ext cx="6355399" cy="5133472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955FEB3-3449-2449-95DC-7DFE00CE0957}"/>
              </a:ext>
            </a:extLst>
          </p:cNvPr>
          <p:cNvSpPr txBox="1"/>
          <p:nvPr/>
        </p:nvSpPr>
        <p:spPr>
          <a:xfrm>
            <a:off x="1331496" y="3428999"/>
            <a:ext cx="243310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Bp can damage your arteries by making them less elastic, which decreases the flow of blood and oxygen to your heart. </a:t>
            </a:r>
          </a:p>
        </p:txBody>
      </p:sp>
    </p:spTree>
    <p:extLst>
      <p:ext uri="{BB962C8B-B14F-4D97-AF65-F5344CB8AC3E}">
        <p14:creationId xmlns:p14="http://schemas.microsoft.com/office/powerpoint/2010/main" val="1561050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11">
            <a:extLst>
              <a:ext uri="{FF2B5EF4-FFF2-40B4-BE49-F238E27FC236}">
                <a16:creationId xmlns:a16="http://schemas.microsoft.com/office/drawing/2014/main" id="{ED56E41F-B8E0-4D18-B554-FD40260DE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13">
            <a:extLst>
              <a:ext uri="{FF2B5EF4-FFF2-40B4-BE49-F238E27FC236}">
                <a16:creationId xmlns:a16="http://schemas.microsoft.com/office/drawing/2014/main" id="{2DB31E17-E562-4F82-98D0-858C84120F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8BF3B07-5EF6-4E5B-834E-C1398DB60A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DDA1859-D108-4C60-B38B-C85485AB3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E498EA77-084B-43CC-B94D-566F1D8E1E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99B16D3F-47E8-419E-9C4E-ED6FC918FB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94936D6-2F9D-3E48-AEA9-D0D2BA53B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5825" y="982132"/>
            <a:ext cx="3360772" cy="130386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>
              <a:lnSpc>
                <a:spcPct val="90000"/>
              </a:lnSpc>
            </a:pPr>
            <a:r>
              <a:rPr lang="en-US" sz="1400" dirty="0">
                <a:solidFill>
                  <a:srgbClr val="262626"/>
                </a:solidFill>
              </a:rPr>
              <a:t>Maximum heart rate based on our ‘Age’. Maximum heart rate is around 220 beats per minute.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3E937B9-07EE-456A-A31C-41A8866E2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3" y="1092200"/>
            <a:ext cx="5942687" cy="451510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D2308B7-2829-44DD-B213-27EEBDED1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20089" y="2400639"/>
            <a:ext cx="337650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01965744-7721-1042-BFBB-72E4CA130EDD}"/>
              </a:ext>
            </a:extLst>
          </p:cNvPr>
          <p:cNvSpPr txBox="1">
            <a:spLocks/>
          </p:cNvSpPr>
          <p:nvPr/>
        </p:nvSpPr>
        <p:spPr>
          <a:xfrm>
            <a:off x="7535824" y="2556932"/>
            <a:ext cx="3360771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285750" indent="-285750"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r>
              <a:rPr lang="en-US" sz="3100" dirty="0">
                <a:solidFill>
                  <a:srgbClr val="262626"/>
                </a:solidFill>
                <a:latin typeface="+mn-lt"/>
                <a:ea typeface="+mn-ea"/>
                <a:cs typeface="+mn-cs"/>
              </a:rPr>
              <a:t>In this data, who are having </a:t>
            </a:r>
            <a:r>
              <a:rPr lang="en-US" sz="3100" dirty="0" err="1">
                <a:solidFill>
                  <a:srgbClr val="262626"/>
                </a:solidFill>
                <a:latin typeface="+mn-lt"/>
                <a:ea typeface="+mn-ea"/>
                <a:cs typeface="+mn-cs"/>
              </a:rPr>
              <a:t>MaxHR</a:t>
            </a:r>
            <a:r>
              <a:rPr lang="en-US" sz="3100" dirty="0">
                <a:solidFill>
                  <a:srgbClr val="262626"/>
                </a:solidFill>
                <a:latin typeface="+mn-lt"/>
                <a:ea typeface="+mn-ea"/>
                <a:cs typeface="+mn-cs"/>
              </a:rPr>
              <a:t> rate there are not having heart diseases. Because these are inversely proportional to each other.</a:t>
            </a:r>
          </a:p>
        </p:txBody>
      </p:sp>
      <p:pic>
        <p:nvPicPr>
          <p:cNvPr id="10" name="Content Placeholder 9" descr="Chart, box and whisker chart&#10;&#10;Description automatically generated">
            <a:extLst>
              <a:ext uri="{FF2B5EF4-FFF2-40B4-BE49-F238E27FC236}">
                <a16:creationId xmlns:a16="http://schemas.microsoft.com/office/drawing/2014/main" id="{6D401AF7-EADC-7C4D-A91F-8C69B9B5FE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1092200" y="1090414"/>
            <a:ext cx="6011863" cy="4516888"/>
          </a:xfrm>
        </p:spPr>
      </p:pic>
    </p:spTree>
    <p:extLst>
      <p:ext uri="{BB962C8B-B14F-4D97-AF65-F5344CB8AC3E}">
        <p14:creationId xmlns:p14="http://schemas.microsoft.com/office/powerpoint/2010/main" val="1217673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13">
            <a:extLst>
              <a:ext uri="{FF2B5EF4-FFF2-40B4-BE49-F238E27FC236}">
                <a16:creationId xmlns:a16="http://schemas.microsoft.com/office/drawing/2014/main" id="{22AC0F86-9A78-4E84-A4B4-ADB8B2629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15">
            <a:extLst>
              <a:ext uri="{FF2B5EF4-FFF2-40B4-BE49-F238E27FC236}">
                <a16:creationId xmlns:a16="http://schemas.microsoft.com/office/drawing/2014/main" id="{4AF78B9E-8BE2-4706-9377-A05FA25AB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2CDFDE2-4DB3-4623-BA21-187D1B710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D74B2AA-1443-4E9B-8462-F7F5B8525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9BB652B6-7300-49EC-9422-EF5342492A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D0909587-01DE-424D-A15F-DAA28CF2C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94936D6-2F9D-3E48-AEA9-D0D2BA53B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5825" y="982132"/>
            <a:ext cx="3360772" cy="130386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>
              <a:lnSpc>
                <a:spcPct val="90000"/>
              </a:lnSpc>
            </a:pPr>
            <a:r>
              <a:rPr lang="en-US" sz="1400" dirty="0"/>
              <a:t>Age plays main key role in any diseases. </a:t>
            </a:r>
          </a:p>
        </p:txBody>
      </p:sp>
      <p:sp>
        <p:nvSpPr>
          <p:cNvPr id="27" name="Rectangle 21">
            <a:extLst>
              <a:ext uri="{FF2B5EF4-FFF2-40B4-BE49-F238E27FC236}">
                <a16:creationId xmlns:a16="http://schemas.microsoft.com/office/drawing/2014/main" id="{69A54E25-1C05-48E5-A5CC-3778C1D363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3" y="1092200"/>
            <a:ext cx="5942687" cy="451510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E5D0023-B23E-4823-8D72-B07FFF8CA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20089" y="2400639"/>
            <a:ext cx="337650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F6343193-5A6D-E14E-A93D-07387FDC056E}"/>
              </a:ext>
            </a:extLst>
          </p:cNvPr>
          <p:cNvSpPr txBox="1">
            <a:spLocks/>
          </p:cNvSpPr>
          <p:nvPr/>
        </p:nvSpPr>
        <p:spPr>
          <a:xfrm>
            <a:off x="7535824" y="2556932"/>
            <a:ext cx="3360771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285750" indent="-285750"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r>
              <a:rPr lang="en-US" sz="3700" dirty="0">
                <a:latin typeface="+mn-lt"/>
                <a:ea typeface="+mn-ea"/>
                <a:cs typeface="+mn-cs"/>
              </a:rPr>
              <a:t>We should Know one thing that is who are in above 50 or 55 there are having heart problems.  </a:t>
            </a:r>
          </a:p>
        </p:txBody>
      </p:sp>
      <p:pic>
        <p:nvPicPr>
          <p:cNvPr id="6" name="Content Placeholder 5" descr="Chart, box and whisker chart&#10;&#10;Description automatically generated">
            <a:extLst>
              <a:ext uri="{FF2B5EF4-FFF2-40B4-BE49-F238E27FC236}">
                <a16:creationId xmlns:a16="http://schemas.microsoft.com/office/drawing/2014/main" id="{C8B56836-1E24-DB49-AE3A-7761CBDED5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1092200" y="1090415"/>
            <a:ext cx="5943600" cy="4516880"/>
          </a:xfrm>
        </p:spPr>
      </p:pic>
    </p:spTree>
    <p:extLst>
      <p:ext uri="{BB962C8B-B14F-4D97-AF65-F5344CB8AC3E}">
        <p14:creationId xmlns:p14="http://schemas.microsoft.com/office/powerpoint/2010/main" val="2355618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BAC7D-D13E-AD4B-AF5C-ACE07E6BD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9767" y="992030"/>
            <a:ext cx="4192466" cy="878974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Models and accuracy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1E31B3-2D76-4648-9E16-C7AEFF1DEDE6}"/>
              </a:ext>
            </a:extLst>
          </p:cNvPr>
          <p:cNvSpPr txBox="1"/>
          <p:nvPr/>
        </p:nvSpPr>
        <p:spPr>
          <a:xfrm>
            <a:off x="1266092" y="2377441"/>
            <a:ext cx="97911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KNN Model: Training Accuracy = 86.9565 ; Testing Accuracy = 89.0988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72F945-7C2B-F34C-A53C-22F0E041ED89}"/>
              </a:ext>
            </a:extLst>
          </p:cNvPr>
          <p:cNvSpPr txBox="1"/>
          <p:nvPr/>
        </p:nvSpPr>
        <p:spPr>
          <a:xfrm>
            <a:off x="1266091" y="3106356"/>
            <a:ext cx="9791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Logistical Regression Model: Training Accuracy </a:t>
            </a:r>
            <a:r>
              <a:rPr lang="en-US" sz="2400" dirty="0"/>
              <a:t>= </a:t>
            </a:r>
            <a:r>
              <a:rPr lang="en-US" sz="2000" dirty="0"/>
              <a:t>86.9565</a:t>
            </a:r>
            <a:r>
              <a:rPr lang="en-US" sz="2400" dirty="0"/>
              <a:t> ; </a:t>
            </a:r>
            <a:r>
              <a:rPr lang="en-US" sz="2000" dirty="0"/>
              <a:t>Testing</a:t>
            </a:r>
            <a:r>
              <a:rPr lang="en-US" sz="2400" dirty="0"/>
              <a:t> </a:t>
            </a:r>
            <a:r>
              <a:rPr lang="en-US" sz="2000" dirty="0"/>
              <a:t>Accuracy = 86.7732</a:t>
            </a:r>
            <a:r>
              <a:rPr lang="en-US" sz="2400" dirty="0"/>
              <a:t> </a:t>
            </a:r>
            <a:endParaRPr 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DFA0E9-E20C-784D-A639-9C3F7D04D0B9}"/>
              </a:ext>
            </a:extLst>
          </p:cNvPr>
          <p:cNvSpPr txBox="1"/>
          <p:nvPr/>
        </p:nvSpPr>
        <p:spPr>
          <a:xfrm>
            <a:off x="3207434" y="436098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4EC7B1-079B-8C46-91C4-885EE479F2A8}"/>
              </a:ext>
            </a:extLst>
          </p:cNvPr>
          <p:cNvSpPr txBox="1"/>
          <p:nvPr/>
        </p:nvSpPr>
        <p:spPr>
          <a:xfrm>
            <a:off x="1266092" y="3840480"/>
            <a:ext cx="9537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XGB </a:t>
            </a:r>
            <a:r>
              <a:rPr lang="en-US" sz="2400" dirty="0"/>
              <a:t>Classifier</a:t>
            </a:r>
            <a:r>
              <a:rPr lang="en-US" dirty="0"/>
              <a:t>:  </a:t>
            </a:r>
            <a:r>
              <a:rPr lang="en-US" sz="2000" dirty="0"/>
              <a:t>Training Accuracy = 93.8953 : Testing Accuracy = 81.7391</a:t>
            </a:r>
          </a:p>
        </p:txBody>
      </p:sp>
    </p:spTree>
    <p:extLst>
      <p:ext uri="{BB962C8B-B14F-4D97-AF65-F5344CB8AC3E}">
        <p14:creationId xmlns:p14="http://schemas.microsoft.com/office/powerpoint/2010/main" val="4223986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D6CF89-058E-D943-B070-B3CAC98F06CB}"/>
              </a:ext>
            </a:extLst>
          </p:cNvPr>
          <p:cNvSpPr txBox="1"/>
          <p:nvPr/>
        </p:nvSpPr>
        <p:spPr>
          <a:xfrm>
            <a:off x="732209" y="1688929"/>
            <a:ext cx="10608726" cy="2956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Based on the dataset I prefer two are the best models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KNN classifier and logistical regression are best models in my view.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Comparatively these two are good  at test scores.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These scores are less overfitting, better scores for the test than another algorithm.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 recommended KNN and Logistical Regression for this dataset.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B161FE-30EC-074D-998A-13C35E263165}"/>
              </a:ext>
            </a:extLst>
          </p:cNvPr>
          <p:cNvSpPr txBox="1"/>
          <p:nvPr/>
        </p:nvSpPr>
        <p:spPr>
          <a:xfrm>
            <a:off x="3995224" y="1069145"/>
            <a:ext cx="39670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         Best Model</a:t>
            </a:r>
          </a:p>
        </p:txBody>
      </p:sp>
    </p:spTree>
    <p:extLst>
      <p:ext uri="{BB962C8B-B14F-4D97-AF65-F5344CB8AC3E}">
        <p14:creationId xmlns:p14="http://schemas.microsoft.com/office/powerpoint/2010/main" val="1153002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12C9C1-98BB-774B-92D2-7E26C254C7A2}"/>
              </a:ext>
            </a:extLst>
          </p:cNvPr>
          <p:cNvSpPr/>
          <p:nvPr/>
        </p:nvSpPr>
        <p:spPr>
          <a:xfrm>
            <a:off x="878775" y="1766950"/>
            <a:ext cx="10117776" cy="13290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6000" dirty="0">
                <a:latin typeface="Consolas" panose="020B0609020204030204" pitchFamily="49" charset="0"/>
                <a:cs typeface="Consolas" panose="020B0609020204030204" pitchFamily="49" charset="0"/>
              </a:rPr>
              <a:t>       Thank You</a:t>
            </a:r>
          </a:p>
        </p:txBody>
      </p:sp>
    </p:spTree>
    <p:extLst>
      <p:ext uri="{BB962C8B-B14F-4D97-AF65-F5344CB8AC3E}">
        <p14:creationId xmlns:p14="http://schemas.microsoft.com/office/powerpoint/2010/main" val="17347434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{0C0C6821-3811-124C-9C79-CCB636D54A0A}tf10001064</Template>
  <TotalTime>524</TotalTime>
  <Words>340</Words>
  <Application>Microsoft Macintosh PowerPoint</Application>
  <PresentationFormat>Widescreen</PresentationFormat>
  <Paragraphs>30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Garamond</vt:lpstr>
      <vt:lpstr>Organic</vt:lpstr>
      <vt:lpstr>Healthy Heart</vt:lpstr>
      <vt:lpstr>Introduction</vt:lpstr>
      <vt:lpstr>Based on this boxplot people who are having heart disease they are also having BP.</vt:lpstr>
      <vt:lpstr>Maximum heart rate based on our ‘Age’. Maximum heart rate is around 220 beats per minute.</vt:lpstr>
      <vt:lpstr>Age plays main key role in any diseases. </vt:lpstr>
      <vt:lpstr>Models and accuracy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Attrition Data</dc:title>
  <dc:creator>Rajesh Reddy Palaparthi</dc:creator>
  <cp:lastModifiedBy>Rajesh Reddy Palaparthi</cp:lastModifiedBy>
  <cp:revision>15</cp:revision>
  <dcterms:created xsi:type="dcterms:W3CDTF">2021-09-26T12:52:06Z</dcterms:created>
  <dcterms:modified xsi:type="dcterms:W3CDTF">2022-01-17T08:48:44Z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2d06e56-1756-4005-87f1-1edc72dd4bdf_Enabled">
    <vt:lpwstr>true</vt:lpwstr>
  </property>
  <property fmtid="{D5CDD505-2E9C-101B-9397-08002B2CF9AE}" pid="3" name="MSIP_Label_52d06e56-1756-4005-87f1-1edc72dd4bdf_SetDate">
    <vt:lpwstr>2021-09-26T12:52:10Z</vt:lpwstr>
  </property>
  <property fmtid="{D5CDD505-2E9C-101B-9397-08002B2CF9AE}" pid="4" name="MSIP_Label_52d06e56-1756-4005-87f1-1edc72dd4bdf_Method">
    <vt:lpwstr>Standard</vt:lpwstr>
  </property>
  <property fmtid="{D5CDD505-2E9C-101B-9397-08002B2CF9AE}" pid="5" name="MSIP_Label_52d06e56-1756-4005-87f1-1edc72dd4bdf_Name">
    <vt:lpwstr>General</vt:lpwstr>
  </property>
  <property fmtid="{D5CDD505-2E9C-101B-9397-08002B2CF9AE}" pid="6" name="MSIP_Label_52d06e56-1756-4005-87f1-1edc72dd4bdf_SiteId">
    <vt:lpwstr>9026c5f4-86d0-4b9f-bd39-b7d4d0fb4674</vt:lpwstr>
  </property>
  <property fmtid="{D5CDD505-2E9C-101B-9397-08002B2CF9AE}" pid="7" name="MSIP_Label_52d06e56-1756-4005-87f1-1edc72dd4bdf_ActionId">
    <vt:lpwstr>bfbfbfae-6382-4563-bd72-b196656f7994</vt:lpwstr>
  </property>
  <property fmtid="{D5CDD505-2E9C-101B-9397-08002B2CF9AE}" pid="8" name="MSIP_Label_52d06e56-1756-4005-87f1-1edc72dd4bdf_ContentBits">
    <vt:lpwstr>0</vt:lpwstr>
  </property>
</Properties>
</file>